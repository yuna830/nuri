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24384000" cy="13716000"/>
  <p:notesSz cx="6858000" cy="9144000"/>
  <p:embeddedFontLst>
    <p:embeddedFont>
      <p:font typeface="Pretendard Regular"/>
      <p:regular r:id="rId37"/>
    </p:embeddedFont>
    <p:embeddedFont>
      <p:font typeface="Pretendard Medium"/>
      <p:bold r:id="rId38"/>
    </p:embeddedFont>
    <p:embeddedFont>
      <p:font typeface="Pretendard Bold"/>
      <p:bold r:id="rId39"/>
    </p:embeddedFont>
    <p:embeddedFont>
      <p:font typeface="Pretendard ExtraLight"/>
      <p:regular r:id="rId40"/>
    </p:embeddedFont>
    <p:embeddedFont>
      <p:font typeface="Pretendard SemiBold"/>
      <p:bold r:id="rId41"/>
    </p:embeddedFont>
    <p:embeddedFont>
      <p:font typeface="Pretendard ExtraBold"/>
      <p:bold r:id="rId42"/>
    </p:embeddedFont>
    <p:embeddedFont>
      <p:font typeface="Josefin Sans SemiBold"/>
      <p:bold r:id="rId43"/>
    </p:embeddedFont>
    <p:embeddedFont>
      <p:font typeface="Pretendard Light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1.fntdata" Type="http://schemas.openxmlformats.org/officeDocument/2006/relationships/font"/><Relationship Id="rId38" Target="fonts/font2.fntdata" Type="http://schemas.openxmlformats.org/officeDocument/2006/relationships/font"/><Relationship Id="rId39" Target="fonts/font3.fntdata" Type="http://schemas.openxmlformats.org/officeDocument/2006/relationships/font"/><Relationship Id="rId4" Target="theme/theme1.xml" Type="http://schemas.openxmlformats.org/officeDocument/2006/relationships/theme"/><Relationship Id="rId40" Target="fonts/font4.fntdata" Type="http://schemas.openxmlformats.org/officeDocument/2006/relationships/font"/><Relationship Id="rId41" Target="fonts/font5.fntdata" Type="http://schemas.openxmlformats.org/officeDocument/2006/relationships/font"/><Relationship Id="rId42" Target="fonts/font6.fntdata" Type="http://schemas.openxmlformats.org/officeDocument/2006/relationships/font"/><Relationship Id="rId43" Target="fonts/font7.fntdata" Type="http://schemas.openxmlformats.org/officeDocument/2006/relationships/font"/><Relationship Id="rId44" Target="fonts/font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9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png" Type="http://schemas.openxmlformats.org/officeDocument/2006/relationships/image"/><Relationship Id="rId18" Target="../media/image28.png" Type="http://schemas.openxmlformats.org/officeDocument/2006/relationships/image"/><Relationship Id="rId19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29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30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14.png" Type="http://schemas.openxmlformats.org/officeDocument/2006/relationships/image"/><Relationship Id="rId8" Target="../media/image34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47.png" Type="http://schemas.openxmlformats.org/officeDocument/2006/relationships/image"/><Relationship Id="rId6" Target="../media/image14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53.png" Type="http://schemas.openxmlformats.org/officeDocument/2006/relationships/image"/><Relationship Id="rId6" Target="../media/image9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59.png" Type="http://schemas.openxmlformats.org/officeDocument/2006/relationships/image"/><Relationship Id="rId7" Target="../media/image44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Relationship Id="rId6" Target="../media/image6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6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67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../media/image6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454900" y="6578600"/>
            <a:ext cx="94742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0">
            <a:off x="8521700" y="9080500"/>
            <a:ext cx="7378700" cy="889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023100" y="4953000"/>
            <a:ext cx="102997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333" b="false" i="false" u="none" strike="noStrike" spc="-1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돌봄 통합 관리 서비스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58300" y="9245600"/>
            <a:ext cx="5892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466456"/>
                </a:solidFill>
                <a:latin typeface="Pretendard Regular"/>
                <a:ea typeface="Pretendard Regular"/>
                <a:cs typeface="Pretendard Regular"/>
              </a:rPr>
              <a:t>nuri  </a:t>
            </a:r>
            <a:r>
              <a:rPr lang="en-US" sz="3200" b="false" i="false" u="none" strike="noStrike">
                <a:solidFill>
                  <a:srgbClr val="466456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200" b="false" i="false" u="none" strike="noStrike">
                <a:solidFill>
                  <a:srgbClr val="466456"/>
                </a:solidFill>
                <a:latin typeface="Pretendard Bold"/>
                <a:ea typeface="Pretendard Bold"/>
                <a:cs typeface="Pretendard Bold"/>
              </a:rPr>
              <a:t>  원 희, 박윤아, 이예린, 장건희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37900" y="3860800"/>
            <a:ext cx="2133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466456"/>
                </a:solidFill>
                <a:latin typeface="Pretendard SemiBold"/>
                <a:ea typeface="Pretendard SemiBold"/>
                <a:cs typeface="Pretendard SemiBold"/>
              </a:rPr>
              <a:t>우리 woori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0600" y="6756400"/>
            <a:ext cx="97155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466456"/>
                </a:solidFill>
                <a:latin typeface="Pretendard Medium"/>
                <a:ea typeface="Pretendard Medium"/>
                <a:cs typeface="Pretendard Medium"/>
              </a:rPr>
              <a:t>취약계층의 건강·위치·복지 정보를 연결하는 통합 돌봄 플랫폼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448128">
            <a:off x="10350500" y="3683000"/>
            <a:ext cx="6477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48000" y="3060700"/>
            <a:ext cx="127000" cy="889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556000" y="2819400"/>
            <a:ext cx="61214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000" b="false" i="false" u="none" strike="noStrike" spc="-200">
                <a:solidFill>
                  <a:srgbClr val="466456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849100" y="1473200"/>
          <a:ext cx="12001500" cy="10769600"/>
        </p:xfrm>
        <a:graphic>
          <a:graphicData uri="http://schemas.openxmlformats.org/drawingml/2006/table">
            <a:tbl>
              <a:tblPr/>
              <a:tblGrid>
                <a:gridCol w="2195464"/>
                <a:gridCol w="9806036"/>
              </a:tblGrid>
              <a:tr h="179495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1. </a:t>
                      </a:r>
                      <a:endParaRPr lang="en-US" sz="1100"/>
                    </a:p>
                  </a:txBody>
                  <a:tcPr anchor="ctr" marL="25400" marT="70356" marR="25400" marB="703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플랫폼 개발 배경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2. </a:t>
                      </a:r>
                      <a:endParaRPr lang="en-US" sz="1100"/>
                    </a:p>
                  </a:txBody>
                  <a:tcPr anchor="ctr" marL="25400" marT="70356" marR="25400" marB="703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역할 소개 및 개발 일정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3. </a:t>
                      </a:r>
                      <a:endParaRPr lang="en-US" sz="1100"/>
                    </a:p>
                  </a:txBody>
                  <a:tcPr anchor="ctr" marL="25400" marT="70356" marR="25400" marB="703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시스템 설계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4. </a:t>
                      </a:r>
                      <a:endParaRPr lang="en-US" sz="1100"/>
                    </a:p>
                  </a:txBody>
                  <a:tcPr anchor="ctr" marL="25400" marT="70356" marR="25400" marB="703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주요 서비스 기능 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5.</a:t>
                      </a:r>
                      <a:endParaRPr lang="en-US" sz="1100"/>
                    </a:p>
                  </a:txBody>
                  <a:tcPr anchor="ctr" marL="25400" marT="70356" marR="25400" marB="703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모델 설명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6. </a:t>
                      </a:r>
                      <a:endParaRPr lang="en-US" sz="1100"/>
                    </a:p>
                  </a:txBody>
                  <a:tcPr anchor="ctr" marL="25400" marT="70356" marR="25400" marB="703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기대 효과 및 향후 개선 방향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579100" y="5537200"/>
            <a:ext cx="3416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0" b="false" i="false" u="none" strike="noStrike" spc="-2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1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6700" y="6286500"/>
            <a:ext cx="90043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666" b="false" i="false" u="none" strike="noStrike" spc="-3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플랫폼 개발 배경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498600"/>
            <a:ext cx="4508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플랫폼 개발 배경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3187700"/>
            <a:ext cx="21412200" cy="10299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725900" y="12560300"/>
            <a:ext cx="6286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7" b="false" i="false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보건복지부 - 2023년 노인실태조사 결과 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96647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주제 선정 배경 및 기존 서비스의 한계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43300" y="3898900"/>
            <a:ext cx="4318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true" i="false" u="none" strike="noStrike">
                <a:solidFill>
                  <a:srgbClr val="456E2A"/>
                </a:solidFill>
                <a:latin typeface="Pretendard SemiBold"/>
                <a:ea typeface="Pretendard SemiBold"/>
                <a:cs typeface="Pretendard SemiBold"/>
              </a:rPr>
              <a:t>가족 중심 돌봄의 한계</a:t>
            </a:r>
            <a:r>
              <a:rPr lang="en-US" sz="3466" b="true" i="false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82900" y="4724400"/>
            <a:ext cx="73787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- 1인 가구 증가로 일상 상태 확인 어려움
- 평균 가구원 수 감소로 응급 상황 대응 지연
- 낙상·실종·복약 누락 위험 증가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3568700"/>
            <a:ext cx="14262100" cy="9080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243300" y="6858000"/>
            <a:ext cx="382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true" i="false" u="none" strike="noStrike">
                <a:solidFill>
                  <a:srgbClr val="456E2A"/>
                </a:solidFill>
                <a:latin typeface="Pretendard SemiBold"/>
                <a:ea typeface="Pretendard SemiBold"/>
                <a:cs typeface="Pretendard SemiBold"/>
              </a:rPr>
              <a:t>기존 서비스의 한계</a:t>
            </a:r>
            <a:r>
              <a:rPr lang="en-US" sz="3466" b="true" i="false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71800" y="7645400"/>
            <a:ext cx="78613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서비스 내용 다양화 필요
- 돌봄 서비스 이용 시간 확대 요구
- 건강·재활·생활 지원까지 포함한 통합 관리 필요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5334000" y="12649200"/>
            <a:ext cx="6286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7" b="false" i="false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보건복지부 - 2023년 노인실태조사 결과 발표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0" y="8445500"/>
            <a:ext cx="1701800" cy="3086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6243300" y="9817100"/>
            <a:ext cx="5562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66" b="true" i="false" u="none" strike="noStrike">
                <a:solidFill>
                  <a:srgbClr val="456E2A"/>
                </a:solidFill>
                <a:latin typeface="Pretendard SemiBold"/>
                <a:ea typeface="Pretendard SemiBold"/>
                <a:cs typeface="Pretendard SemiBold"/>
              </a:rPr>
              <a:t>기술 기반 통합 돌봄의 필요성</a:t>
            </a:r>
            <a:r>
              <a:rPr lang="en-US" sz="3466" b="true" i="false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82900" y="10604500"/>
            <a:ext cx="77089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AI·IoT 활용한 24시간 자동 모니터링 요구
- 보호자·복지사 간 실시간 정보 공유 체계 부재
- 디지털 전환으로 돌봄 사각지대 해소 필요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541000" y="5562600"/>
            <a:ext cx="3505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0" b="false" i="false" u="none" strike="noStrike" spc="-2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2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51600" y="6261100"/>
            <a:ext cx="118872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666" b="false" i="false" u="none" strike="noStrike" spc="-3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역할 소개 및 개발 일정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59436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역할 소개 및 개발 일정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10800" y="3352800"/>
            <a:ext cx="4089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true" i="false" u="none" strike="noStrike">
                <a:solidFill>
                  <a:srgbClr val="7DB249"/>
                </a:solidFill>
                <a:latin typeface="Pretendard SemiBold"/>
                <a:ea typeface="Pretendard SemiBold"/>
                <a:cs typeface="Pretendard SemiBold"/>
              </a:rPr>
              <a:t>Team. Nuri 역할 소개</a:t>
            </a:r>
            <a:r>
              <a:rPr lang="en-US" sz="3466" b="false" i="false" u="none" strike="noStrike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17700" y="4635500"/>
            <a:ext cx="9232900" cy="354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92100" y="4635500"/>
            <a:ext cx="9232900" cy="354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7700" y="8839200"/>
            <a:ext cx="9232900" cy="3543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92100" y="8839200"/>
            <a:ext cx="9232900" cy="3543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575300" y="4902200"/>
            <a:ext cx="1917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팀장 : 원 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61000" y="9220200"/>
            <a:ext cx="2095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팀원: 이예린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35400" y="4902200"/>
            <a:ext cx="2095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팀원: 박윤아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48100" y="9220200"/>
            <a:ext cx="2095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팀원: 장건희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05100" y="5600700"/>
            <a:ext cx="7772400" cy="266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낙상 감지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모듈 개발 (MediaPipe + YOLOv8 등)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활동 컨디션 분석 및 데이터 저장 스케줄러 구현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사용자(돌봄 대상자) 웹/앱 개발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사용자,복지사,보호자 </a:t>
            </a: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채팅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개발 + 사진/파일 전송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/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79500" y="5600700"/>
            <a:ext cx="79121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GPS 위치 추적 및 안전 반경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이탈 감지 + 알림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경찰청 </a:t>
            </a:r>
            <a:r>
              <a:rPr lang="en-US" sz="3003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실종경보 API 연동 + 실종 정보 조회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얼굴 인식 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모듈 개발 (InsightFace)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복지제도 RAG 챗봇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개발 (Qdrant + Groq) 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9000" y="9906000"/>
            <a:ext cx="81661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일자리 공고 조회 및 사용자별 일자리 추천 화면 개발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복지사 대시보드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(돌봄 대상자 케어)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건강 판별 모델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개발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복지사  페이지 개발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7600" y="9906000"/>
            <a:ext cx="85598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AI 챗봇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개발 및 Gemini 연동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Whisper STT·Supertonic TTS 기반 </a:t>
            </a: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음성 대화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 구현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PaddleOCR·MobileNetV3 기반 </a:t>
            </a:r>
            <a:r>
              <a:rPr lang="en-US" sz="3003" b="false" i="false" u="none" strike="noStrike">
                <a:solidFill>
                  <a:srgbClr val="568A35"/>
                </a:solidFill>
                <a:latin typeface="Pretendard Bold"/>
                <a:ea typeface="Pretendard Bold"/>
                <a:cs typeface="Pretendard Bold"/>
              </a:rPr>
              <a:t>음식 분석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일정·복약 관리 연동 및 관리자 페이지 개발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59436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역할 소개 및 개발 일정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25900" y="8661400"/>
            <a:ext cx="163449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00500" y="3771900"/>
            <a:ext cx="159385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556000" y="4254500"/>
            <a:ext cx="9017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83000" y="3492500"/>
            <a:ext cx="622300" cy="62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05100" y="4711700"/>
            <a:ext cx="2603500" cy="1308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378200" y="4927600"/>
            <a:ext cx="1244600" cy="876300"/>
          </a:xfrm>
          <a:prstGeom prst="rect">
            <a:avLst/>
          </a:prstGeom>
        </p:spPr>
        <p:txBody>
          <a:bodyPr anchor="t" rtlCol="false" lIns="0" tIns="62567" rIns="0" bIns="0"/>
          <a:lstStyle/>
          <a:p>
            <a:pPr algn="ctr" lvl="0">
              <a:lnSpc>
                <a:spcPct val="99600"/>
              </a:lnSpc>
            </a:pPr>
            <a:r>
              <a:rPr lang="en-US" sz="4926" b="false" i="false" u="none" strike="noStrike" spc="-2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계획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06700" y="6223000"/>
            <a:ext cx="3632200" cy="952500"/>
          </a:xfrm>
          <a:prstGeom prst="rect">
            <a:avLst/>
          </a:prstGeom>
        </p:spPr>
        <p:txBody>
          <a:bodyPr anchor="t" rtlCol="false" lIns="0" tIns="36829" rIns="0" bIns="0"/>
          <a:lstStyle/>
          <a:p>
            <a:pPr algn="l" lvl="0">
              <a:lnSpc>
                <a:spcPct val="99600"/>
              </a:lnSpc>
            </a:pPr>
            <a:r>
              <a:rPr lang="en-US" sz="2899" b="true" i="false" u="none" strike="noStrike" spc="-100">
                <a:solidFill>
                  <a:srgbClr val="7DB249"/>
                </a:solidFill>
                <a:latin typeface="Pretendard Light"/>
                <a:ea typeface="Pretendard Light"/>
                <a:cs typeface="Pretendard Light"/>
              </a:rPr>
              <a:t>05.04 ~ 05.10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목표 정의 / 계획서 작성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490200" y="4254500"/>
            <a:ext cx="9017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04500" y="3479800"/>
            <a:ext cx="622300" cy="62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639300" y="4711700"/>
            <a:ext cx="2603500" cy="1308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375900" y="4927600"/>
            <a:ext cx="1244600" cy="876300"/>
          </a:xfrm>
          <a:prstGeom prst="rect">
            <a:avLst/>
          </a:prstGeom>
        </p:spPr>
        <p:txBody>
          <a:bodyPr anchor="t" rtlCol="false" lIns="0" tIns="62567" rIns="0" bIns="0"/>
          <a:lstStyle/>
          <a:p>
            <a:pPr algn="ctr" lvl="0">
              <a:lnSpc>
                <a:spcPct val="99600"/>
              </a:lnSpc>
            </a:pPr>
            <a:r>
              <a:rPr lang="en-US" sz="4926" b="false" i="false" u="none" strike="noStrike" spc="-2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분석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530600" y="9156700"/>
            <a:ext cx="901700" cy="25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57600" y="8382000"/>
            <a:ext cx="622300" cy="622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17800" y="9613900"/>
            <a:ext cx="2603500" cy="1308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3390900" y="9829800"/>
            <a:ext cx="1244600" cy="876300"/>
          </a:xfrm>
          <a:prstGeom prst="rect">
            <a:avLst/>
          </a:prstGeom>
        </p:spPr>
        <p:txBody>
          <a:bodyPr anchor="t" rtlCol="false" lIns="0" tIns="62567" rIns="0" bIns="0"/>
          <a:lstStyle/>
          <a:p>
            <a:pPr algn="ctr" lvl="0">
              <a:lnSpc>
                <a:spcPct val="99600"/>
              </a:lnSpc>
            </a:pPr>
            <a:r>
              <a:rPr lang="en-US" sz="4926" b="false" i="false" u="none" strike="noStrike" spc="-2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설계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502900" y="9156700"/>
            <a:ext cx="901700" cy="25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642600" y="8382000"/>
            <a:ext cx="622300" cy="622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613900" y="9626600"/>
            <a:ext cx="2603500" cy="13081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299700" y="9829800"/>
            <a:ext cx="1244600" cy="876300"/>
          </a:xfrm>
          <a:prstGeom prst="rect">
            <a:avLst/>
          </a:prstGeom>
        </p:spPr>
        <p:txBody>
          <a:bodyPr anchor="t" rtlCol="false" lIns="0" tIns="62567" rIns="0" bIns="0"/>
          <a:lstStyle/>
          <a:p>
            <a:pPr algn="ctr" lvl="0">
              <a:lnSpc>
                <a:spcPct val="99600"/>
              </a:lnSpc>
            </a:pPr>
            <a:r>
              <a:rPr lang="en-US" sz="4926" b="false" i="false" u="none" strike="noStrike" spc="-2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구현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7475200" y="9156700"/>
            <a:ext cx="901700" cy="25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602200" y="8382000"/>
            <a:ext cx="622300" cy="622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395700" y="9626600"/>
            <a:ext cx="4965700" cy="1308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6979900" y="9829800"/>
            <a:ext cx="3949700" cy="876300"/>
          </a:xfrm>
          <a:prstGeom prst="rect">
            <a:avLst/>
          </a:prstGeom>
        </p:spPr>
        <p:txBody>
          <a:bodyPr anchor="t" rtlCol="false" lIns="0" tIns="62567" rIns="0" bIns="0"/>
          <a:lstStyle/>
          <a:p>
            <a:pPr algn="ctr" lvl="0">
              <a:lnSpc>
                <a:spcPct val="99600"/>
              </a:lnSpc>
            </a:pPr>
            <a:r>
              <a:rPr lang="en-US" sz="4926" b="false" i="false" u="none" strike="noStrike" spc="-2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테스트 &amp; 피드백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15500" y="6223000"/>
            <a:ext cx="4660900" cy="1397000"/>
          </a:xfrm>
          <a:prstGeom prst="rect">
            <a:avLst/>
          </a:prstGeom>
        </p:spPr>
        <p:txBody>
          <a:bodyPr anchor="t" rtlCol="false" lIns="0" tIns="36829" rIns="0" bIns="0"/>
          <a:lstStyle/>
          <a:p>
            <a:pPr algn="l" lvl="0">
              <a:lnSpc>
                <a:spcPct val="99600"/>
              </a:lnSpc>
            </a:pPr>
            <a:r>
              <a:rPr lang="en-US" sz="2899" b="true" i="false" u="none" strike="noStrike" spc="-100">
                <a:solidFill>
                  <a:srgbClr val="7DB249"/>
                </a:solidFill>
                <a:latin typeface="Pretendard Light"/>
                <a:ea typeface="Pretendard Light"/>
                <a:cs typeface="Pretendard Light"/>
              </a:rPr>
              <a:t>05.11 ~ 05.17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기존 사이트 조사 / 사용자 분석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필수 기능 정의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94000" y="11176000"/>
            <a:ext cx="4927600" cy="1397000"/>
          </a:xfrm>
          <a:prstGeom prst="rect">
            <a:avLst/>
          </a:prstGeom>
        </p:spPr>
        <p:txBody>
          <a:bodyPr anchor="t" rtlCol="false" lIns="0" tIns="36829" rIns="0" bIns="0"/>
          <a:lstStyle/>
          <a:p>
            <a:pPr algn="l" lvl="0">
              <a:lnSpc>
                <a:spcPct val="99600"/>
              </a:lnSpc>
            </a:pPr>
            <a:r>
              <a:rPr lang="en-US" sz="2899" b="true" i="false" u="none" strike="noStrike" spc="-100">
                <a:solidFill>
                  <a:srgbClr val="7DB249"/>
                </a:solidFill>
                <a:latin typeface="Pretendard Light"/>
                <a:ea typeface="Pretendard Light"/>
                <a:cs typeface="Pretendard Light"/>
              </a:rPr>
              <a:t>05.18 ~ 05.24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시스템 구조 설계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설계 문서 작성 / 발표 자료 작성 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28200" y="11176000"/>
            <a:ext cx="2654300" cy="1397000"/>
          </a:xfrm>
          <a:prstGeom prst="rect">
            <a:avLst/>
          </a:prstGeom>
        </p:spPr>
        <p:txBody>
          <a:bodyPr anchor="t" rtlCol="false" lIns="0" tIns="36829" rIns="0" bIns="0"/>
          <a:lstStyle/>
          <a:p>
            <a:pPr algn="l" lvl="0">
              <a:lnSpc>
                <a:spcPct val="99600"/>
              </a:lnSpc>
            </a:pPr>
            <a:r>
              <a:rPr lang="en-US" sz="2899" b="true" i="false" u="none" strike="noStrike" spc="-100">
                <a:solidFill>
                  <a:srgbClr val="7DB249"/>
                </a:solidFill>
                <a:latin typeface="Pretendard Light"/>
                <a:ea typeface="Pretendard Light"/>
                <a:cs typeface="Pretendard Light"/>
              </a:rPr>
              <a:t>05.25 ~ 05.31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기능의 구현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서버 및 DB 구축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068800" y="11176000"/>
            <a:ext cx="5067300" cy="1397000"/>
          </a:xfrm>
          <a:prstGeom prst="rect">
            <a:avLst/>
          </a:prstGeom>
        </p:spPr>
        <p:txBody>
          <a:bodyPr anchor="t" rtlCol="false" lIns="0" tIns="36829" rIns="0" bIns="0"/>
          <a:lstStyle/>
          <a:p>
            <a:pPr algn="l" lvl="0">
              <a:lnSpc>
                <a:spcPct val="99600"/>
              </a:lnSpc>
            </a:pPr>
            <a:r>
              <a:rPr lang="en-US" sz="2899" b="true" i="false" u="none" strike="noStrike" spc="-100">
                <a:solidFill>
                  <a:srgbClr val="7DB249"/>
                </a:solidFill>
                <a:latin typeface="Pretendard Light"/>
                <a:ea typeface="Pretendard Light"/>
                <a:cs typeface="Pretendard Light"/>
              </a:rPr>
              <a:t>06.01 ~ 06.15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테스트 / 사용자 테스트</a:t>
            </a:r>
          </a:p>
          <a:p>
            <a:pPr algn="l" lvl="0">
              <a:lnSpc>
                <a:spcPct val="99600"/>
              </a:lnSpc>
            </a:pPr>
            <a:r>
              <a:rPr lang="en-US" sz="2899" b="false" i="false" u="none" strike="noStrike" spc="-100">
                <a:solidFill>
                  <a:srgbClr val="393939"/>
                </a:solidFill>
                <a:latin typeface="Pretendard Light"/>
                <a:ea typeface="Pretendard Light"/>
                <a:cs typeface="Pretendard Light"/>
              </a:rPr>
              <a:t>- 메뉴얼 작성 / 최종 발표 자료 준비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541000" y="5562600"/>
            <a:ext cx="35179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0" b="false" i="false" u="none" strike="noStrike" spc="-2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82100" y="6261100"/>
            <a:ext cx="64262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666" b="false" i="false" u="none" strike="noStrike" spc="-3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시스템 설계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60198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시스템 아키텍처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89300" y="3175000"/>
            <a:ext cx="17805400" cy="9906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49276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데이터베이스 구조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00600" y="3175000"/>
            <a:ext cx="14782800" cy="1017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26416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기술 스택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09700" y="3060700"/>
            <a:ext cx="21564600" cy="1033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579100" y="5537200"/>
            <a:ext cx="3416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0" b="false" i="false" u="none" strike="noStrike" spc="-2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4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6700" y="6286500"/>
            <a:ext cx="90043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666" b="false" i="false" u="none" strike="noStrike" spc="-3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69469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 - 사용자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3467100"/>
            <a:ext cx="11633200" cy="9753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893800" y="3810000"/>
            <a:ext cx="8826500" cy="908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컨디션 비교 분석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연결된 대상자 목록에서 축적된 활동 데이터를 기반으로 
   오늘의 건강 상태를 평소와 비교해 이상 여부 감지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실시간 위치 및 SOS 알림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카카오맵 기반 현재 위치 표시, 오늘의 이동 경로와 활동 
   슬롯 현황 확인
- 위험 상황 발생 시 보호자/복지사에게 즉시 긴급 알림 발송</a:t>
            </a:r>
          </a:p>
          <a:p>
            <a:pPr algn="l" lvl="0">
              <a:lnSpc>
                <a:spcPct val="116199"/>
              </a:lnSpc>
            </a:pPr>
            <a:br>
              <a:rPr/>
            </a:b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 낙상 감지 및 현황 기록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낙상 감지 상태를 실시간으로 확인하고, 과거 낙상 이력 
   및 패턴 조회 가능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04 위험 기후 알림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기상특보 발령 시 자동 알림 수신, 오늘의 날씨 예보 및 
   대피소 위치 안내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32300" y="7581900"/>
            <a:ext cx="1701800" cy="76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31500" y="3314700"/>
            <a:ext cx="1612900" cy="76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934200" y="4191000"/>
            <a:ext cx="2578100" cy="1384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5575300"/>
            <a:ext cx="38989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8242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 - 사용자 챗봇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92200" y="3505200"/>
            <a:ext cx="152527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48100" y="4292600"/>
            <a:ext cx="6921500" cy="7099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44300" y="4648200"/>
            <a:ext cx="1701800" cy="76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48100" y="4838700"/>
            <a:ext cx="24384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31300" y="11226800"/>
            <a:ext cx="1701800" cy="762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1100" y="11226800"/>
            <a:ext cx="12954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8242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 - 사용자 챗봇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9700" y="3581400"/>
            <a:ext cx="4940300" cy="7594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39100" y="11582400"/>
            <a:ext cx="36703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60" b="false" i="false" u="none" strike="noStrike">
                <a:solidFill>
                  <a:srgbClr val="7DB249"/>
                </a:solidFill>
                <a:latin typeface="Pretendard SemiBold"/>
                <a:ea typeface="Pretendard SemiBold"/>
                <a:cs typeface="Pretendard SemiBold"/>
              </a:rPr>
              <a:t>[식약처 API 조회]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6200" y="11582400"/>
            <a:ext cx="52451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60" b="false" i="false" u="none" strike="noStrike">
                <a:solidFill>
                  <a:srgbClr val="7DB249"/>
                </a:solidFill>
                <a:latin typeface="Pretendard SemiBold"/>
                <a:ea typeface="Pretendard SemiBold"/>
                <a:cs typeface="Pretendard SemiBold"/>
              </a:rPr>
              <a:t>[ MoblieNetV3-Small 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77900" y="3581400"/>
            <a:ext cx="9105900" cy="908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 AI 대화 및 음성 지원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사용자 질문에 AI가 텍스트·음성으로 답변, Whisper STT 
   / Supertonic TTS로 말하고 듣는 대화 가능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식품 라벨 인식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PaddleOCR로 식품 라벨을 촬영해 영양성분·알레르기 
   정보를 자동 분석 및 안내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식약처 식품영양성분 DB 연계로 영양정보 보완 및 주의사항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   안내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 음식 이미지 분류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MobileNetV3-Small 모델로 음식 사진을 인식해 음식 
   정보 제공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04 생활 정보 안내 + 일정 관리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일정 등록·조회, 삭제, 수정 가능
- 주변 병원·약국 검색 및 날씨 정보를 챗봇 대화 중 바로 확인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9700" y="7366000"/>
            <a:ext cx="3517900" cy="381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769100" y="5740400"/>
            <a:ext cx="6045200" cy="476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32600" y="6197600"/>
            <a:ext cx="29591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69469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 - 보호자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3784600"/>
            <a:ext cx="12992100" cy="8089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036800" y="4356100"/>
            <a:ext cx="8191500" cy="694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대상자 선택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연결된 대상자 목록에서 관리할 대상 선택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상태 확인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현재 위치, 이동 경로, 안전 반경, 복약 정보 확인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 위험 대응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안전구역 이탈, SOS, 얼굴 확인 등 주요 알림 확인
   -&gt; 전화·메시지·신고 기능으로 즉시 대응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04 협업 요청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필요 시 복지사에게 상담을 요청, 대상자의 상태 정보
   를 함께 공유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0" y="4356100"/>
            <a:ext cx="1612900" cy="546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13300" y="4965700"/>
            <a:ext cx="16129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44200" y="4902200"/>
            <a:ext cx="3187700" cy="5245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3.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69469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 - 복지사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367000" y="3784600"/>
            <a:ext cx="7835900" cy="854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대상자 통합 관리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담당 대상자 전체 목록 조회 및 강 상태·알림·정보
   미입력 현황 실시간 파악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AI 복지 정책 Q&amp;A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돌봄 대상자별 맞춤 복지 정책을 AI에게 바로 질문
   하고 답변 조회, 상담 업무 효율화</a:t>
            </a:r>
          </a:p>
          <a:p>
            <a:pPr algn="l" lvl="0">
              <a:lnSpc>
                <a:spcPct val="116199"/>
              </a:lnSpc>
            </a:pPr>
            <a:br>
              <a:rPr/>
            </a:b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 대상자 상세 확인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개인별 건강 정보·위치·이동 경로·상담 기록을 상세
   조회, 보호자에게 상담 요청 가능</a:t>
            </a:r>
            <a:r>
              <a:rPr lang="en-US" sz="3003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04 일자리 공고 및 신청 관리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일자리 공고 등록·관리, 시니어의 일자리 신청 현황
   확인 및 처리
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3784600"/>
            <a:ext cx="13614400" cy="765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49700" y="4597400"/>
            <a:ext cx="10744200" cy="1333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9500" y="4597400"/>
            <a:ext cx="2895600" cy="3797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4.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69469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서비스 기능 - 관리자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4749800"/>
            <a:ext cx="14122400" cy="6819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811500" y="4152900"/>
            <a:ext cx="7899400" cy="801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접근 권한 관리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관리자 전용 로그인·회원가입으로 일반 사용자와 
   접근 분리</a:t>
            </a:r>
          </a:p>
          <a:p>
            <a:pPr algn="l" lvl="0">
              <a:lnSpc>
                <a:spcPct val="116199"/>
              </a:lnSpc>
            </a:pPr>
            <a:br>
              <a:rPr/>
            </a:b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전체 현황 대시보드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보호대상자·복지사·보호자 수 및 최근 보호대상자 
   연결 현황을 한눈에 확인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 사용자·보호자·복지사 계정 관리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전체 계정 목록 조회·검색·필터링, 상세 정보 및 
   돌봄 연결 상태 확인
</a:t>
            </a: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04 계정 상태 및 돌봄 정보 확인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각 계정의 활동 상태, 담당 복지사·보호자 연결 현황
   조회 및 관리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5400" y="4711700"/>
            <a:ext cx="2235200" cy="344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530600" y="6438900"/>
            <a:ext cx="116459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579100" y="5537200"/>
            <a:ext cx="3416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0" b="false" i="false" u="none" strike="noStrike" spc="-2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53600" y="6286500"/>
            <a:ext cx="52832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666" b="false" i="false" u="none" strike="noStrike" spc="-3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모델 설명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26416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낙상 모델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3594100"/>
            <a:ext cx="21793200" cy="863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3924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건강 판독 모델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3517900"/>
            <a:ext cx="15290800" cy="9601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7018000" y="3657600"/>
            <a:ext cx="61849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데이터 입력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나이·성별·만성질환 10종·복약 수 등 
   대상자 건강 정보를 입력 피처로 활용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18000" y="5791200"/>
            <a:ext cx="6184900" cy="373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  <a:b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</a:b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단계 캐스케이드 분류(2단계)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- 1단계에서 양호/비양호 판별 후, 비양호
   시 2단계에서 주의/위험으로 세분화</a:t>
            </a:r>
          </a:p>
          <a:p>
            <a:pPr algn="l" lvl="0">
              <a:lnSpc>
                <a:spcPct val="116199"/>
              </a:lnSpc>
            </a:pPr>
            <a:br>
              <a:rPr/>
            </a:br>
          </a:p>
        </p:txBody>
      </p:sp>
      <p:sp>
        <p:nvSpPr>
          <p:cNvPr name="TextBox 12" id="12"/>
          <p:cNvSpPr txBox="true"/>
          <p:nvPr/>
        </p:nvSpPr>
        <p:spPr>
          <a:xfrm rot="0">
            <a:off x="17005300" y="11226800"/>
            <a:ext cx="62103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 최종 판정 출력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양호 / 주의 / 위험 3단계로 대상자 건강
   상태를 복지사에게 실시간 제공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9113500" y="6134100"/>
            <a:ext cx="1384300" cy="495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9113500" y="9944100"/>
            <a:ext cx="13843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7810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음식 이미지 및 식품 라벨 분석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3733800"/>
            <a:ext cx="4940300" cy="7594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821400" y="11722100"/>
            <a:ext cx="34163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60" b="false" i="false" u="none" strike="noStrike">
                <a:solidFill>
                  <a:srgbClr val="7DB249"/>
                </a:solidFill>
                <a:latin typeface="Pretendard SemiBold"/>
                <a:ea typeface="Pretendard SemiBold"/>
                <a:cs typeface="Pretendard SemiBold"/>
              </a:rPr>
              <a:t>[Paddle OCR 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2900" y="11722100"/>
            <a:ext cx="52451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60" b="false" i="false" u="none" strike="noStrike">
                <a:solidFill>
                  <a:srgbClr val="7DB249"/>
                </a:solidFill>
                <a:latin typeface="Pretendard SemiBold"/>
                <a:ea typeface="Pretendard SemiBold"/>
                <a:cs typeface="Pretendard SemiBold"/>
              </a:rPr>
              <a:t>[ MoblieNetV3-Small ]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49100" y="7518400"/>
            <a:ext cx="3517900" cy="3810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805400" y="3733800"/>
            <a:ext cx="4864100" cy="7505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459700" y="4940300"/>
            <a:ext cx="1727200" cy="191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805400" y="7162800"/>
            <a:ext cx="1587500" cy="4089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8700" y="3733800"/>
            <a:ext cx="10414000" cy="7759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63627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사용자 일자리 매칭 로직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3619500"/>
            <a:ext cx="21793200" cy="8204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3924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얼굴 인식 모델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109700" y="3543300"/>
            <a:ext cx="90932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데이터 입력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보호자 앱의 등록 사진 / 카메라 실시간 영상을 입력 데이터로 사용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09700" y="6057900"/>
            <a:ext cx="9804400" cy="373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얼굴 검출 및 특징 추출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buffalo_l에 내장된 InsightFace SCRFD로 얼굴 영역 탐지 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및 Crop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InsightFace ArcFace를 통해 얼굴 임베딩 벡터 생성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blur, 밝기, 얼굴 크기, 정면 여부를 검사하고 기준 미달 이미지는 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분석에서 제외</a:t>
            </a:r>
          </a:p>
          <a:p>
            <a:pPr algn="l" lvl="0">
              <a:lnSpc>
                <a:spcPct val="116199"/>
              </a:lnSpc>
            </a:pPr>
            <a:br>
              <a:rPr/>
            </a:br>
          </a:p>
        </p:txBody>
      </p:sp>
      <p:sp>
        <p:nvSpPr>
          <p:cNvPr name="TextBox 11" id="11"/>
          <p:cNvSpPr txBox="true"/>
          <p:nvPr/>
        </p:nvSpPr>
        <p:spPr>
          <a:xfrm rot="0">
            <a:off x="14109700" y="10185400"/>
            <a:ext cx="93472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 최종 판정 출력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-등록된 어르신 얼굴 임베딩과 입력 얼굴 임베딩을 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Cosine Similarity로 비교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유사도 구간에 따라 MATCH 또는 CANDIDATE 이벤트 생성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3543300"/>
            <a:ext cx="11722100" cy="8788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41275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복지 제도 RAG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3429000"/>
            <a:ext cx="13093700" cy="9817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011400" y="4013200"/>
            <a:ext cx="77216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01 문서 임베딩 및 저장
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보호자 앱 또는 카메라로- 복지제도 문서를 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임베딩 벡터로 변환하여 Qdrant Vector DB에 저장</a:t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11400" y="4597400"/>
            <a:ext cx="6273800" cy="373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  <a:b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</a:b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02 관련 문서 검색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사용자 질문을 벡터화한 뒤 Qdrant에서 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유사도가 높은 복지 문서 Top-K 검색</a:t>
            </a:r>
          </a:p>
          <a:p>
            <a:pPr algn="l" lvl="0">
              <a:lnSpc>
                <a:spcPct val="116199"/>
              </a:lnSpc>
            </a:pPr>
            <a:br>
              <a:rPr/>
            </a:br>
          </a:p>
        </p:txBody>
      </p:sp>
      <p:sp>
        <p:nvSpPr>
          <p:cNvPr name="TextBox 12" id="12"/>
          <p:cNvSpPr txBox="true"/>
          <p:nvPr/>
        </p:nvSpPr>
        <p:spPr>
          <a:xfrm rot="0">
            <a:off x="15011400" y="8331200"/>
            <a:ext cx="82677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03 LLM 기반 답변 생성</a:t>
            </a: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- 검색된 문서를 Groq LLM에 전달하여 빠른 근거 기반 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답변 생성
- Gemini는 이미지 분석 및 보조 생성 기능에 활용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11400" y="11023600"/>
            <a:ext cx="86995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true" i="false" u="none" strike="noStrike">
                <a:solidFill>
                  <a:srgbClr val="568A35"/>
                </a:solidFill>
                <a:latin typeface="Pretendard Light"/>
                <a:ea typeface="Pretendard Light"/>
                <a:cs typeface="Pretendard Light"/>
              </a:rPr>
              <a:t>04 맞춤형 복지 안내</a:t>
            </a:r>
          </a:p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 지원 대상, 신청 조건, 필요 서류, 신청 방법 등을 사용자에게 챗봇 형태로 제공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7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579100" y="5537200"/>
            <a:ext cx="3416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0" b="false" i="false" u="none" strike="noStrike" spc="-2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95900" y="6299200"/>
            <a:ext cx="141859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666" b="false" i="false" u="none" strike="noStrike" spc="-3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기대효과 및 향후 계선 방향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6.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48387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WOORI의 차별점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950700" y="4572000"/>
            <a:ext cx="482600" cy="406400"/>
          </a:xfrm>
          <a:prstGeom prst="rect">
            <a:avLst/>
          </a:prstGeom>
        </p:spPr>
      </p:pic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95400" y="3949700"/>
          <a:ext cx="9144000" cy="8204200"/>
        </p:xfrm>
        <a:graphic>
          <a:graphicData uri="http://schemas.openxmlformats.org/drawingml/2006/table">
            <a:tbl>
              <a:tblPr/>
              <a:tblGrid>
                <a:gridCol w="9138007"/>
              </a:tblGrid>
              <a:tr h="159752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595959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돌봄 서비스</a:t>
                      </a:r>
                      <a:endParaRPr lang="en-US" sz="1100"/>
                    </a:p>
                  </a:txBody>
                  <a:tcPr anchor="ctr" marL="25400" marT="87841" marR="25400" marB="87841">
                    <a:lnL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98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46645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분산된 정보 관리 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88999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: 건강·위치·복지 정보가 따로 관리</a:t>
                      </a:r>
                    </a:p>
                  </a:txBody>
                  <a:tcPr anchor="ctr" marL="25400" marT="95332" marR="25400" marB="80346">
                    <a:lnL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FD8"/>
                    </a:solidFill>
                  </a:tcPr>
                </a:tc>
              </a:tr>
              <a:tr h="21998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46645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보호자 중심 확인    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88999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: 보호자가 직접 연락·확인해야 함</a:t>
                      </a:r>
                    </a:p>
                  </a:txBody>
                  <a:tcPr anchor="ctr" marL="25400" marT="95332" marR="25400" marB="80346">
                    <a:lnL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FD8"/>
                    </a:solidFill>
                  </a:tcPr>
                </a:tc>
              </a:tr>
              <a:tr h="220208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46645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사후 대응 중심   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889991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: 문제 발생 후 확인·신고 중심</a:t>
                      </a:r>
                    </a:p>
                  </a:txBody>
                  <a:tcPr anchor="ctr" marL="25400" marT="95332" marR="25400" marB="80346">
                    <a:lnL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 algn="ctr" cap="flat">
                      <a:solidFill>
                        <a:srgbClr val="CD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FD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566400" y="3949700"/>
          <a:ext cx="3263900" cy="8204200"/>
        </p:xfrm>
        <a:graphic>
          <a:graphicData uri="http://schemas.openxmlformats.org/drawingml/2006/table">
            <a:tbl>
              <a:tblPr/>
              <a:tblGrid>
                <a:gridCol w="3262408"/>
              </a:tblGrid>
              <a:tr h="159752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1998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 구조</a:t>
                      </a:r>
                      <a:endParaRPr lang="en-US" sz="1100"/>
                    </a:p>
                  </a:txBody>
                  <a:tcPr anchor="ctr" marL="25400" marT="85342" marR="25400" marB="8534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1998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관리 방식</a:t>
                      </a:r>
                      <a:endParaRPr lang="en-US" sz="1100"/>
                    </a:p>
                  </a:txBody>
                  <a:tcPr anchor="ctr" marL="25400" marT="85342" marR="25400" marB="8534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20208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대응 방식</a:t>
                      </a:r>
                      <a:endParaRPr lang="en-US" sz="1100"/>
                    </a:p>
                  </a:txBody>
                  <a:tcPr anchor="ctr" marL="25400" marT="85342" marR="25400" marB="8534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3817600" y="3949700"/>
          <a:ext cx="9144000" cy="8204200"/>
        </p:xfrm>
        <a:graphic>
          <a:graphicData uri="http://schemas.openxmlformats.org/drawingml/2006/table">
            <a:tbl>
              <a:tblPr/>
              <a:tblGrid>
                <a:gridCol w="9138007"/>
              </a:tblGrid>
              <a:tr h="159752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46645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woori 서비스</a:t>
                      </a:r>
                      <a:endParaRPr lang="en-US" sz="1100"/>
                    </a:p>
                  </a:txBody>
                  <a:tcPr anchor="ctr" marL="25400" marT="87841" marR="25400" marB="87841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98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통합 상태 확인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EEEEE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: 대상자 정보를 한 화면에서 확인</a:t>
                      </a:r>
                    </a:p>
                  </a:txBody>
                  <a:tcPr anchor="ctr" marL="25400" marT="95332" marR="25400" marB="80346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219981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보호자·복지사 협업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EEEEE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: 상담 요청과 상태 공유로 함께 관리</a:t>
                      </a:r>
                    </a:p>
                  </a:txBody>
                  <a:tcPr anchor="ctr" marL="25400" marT="95332" marR="25400" marB="80346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220208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실시간 위험 대응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EEEEE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: SOS·안전구역 이탈 알림으로 즉시 대응</a:t>
                      </a:r>
                      <a:br>
                        <a:rPr lang="en-US" sz="2933" b="false" i="false" u="none" strike="noStrike">
                          <a:solidFill>
                            <a:srgbClr val="EEEEE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</a:br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6.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" y="1511300"/>
            <a:ext cx="26416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기대효과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95400" y="3581400"/>
          <a:ext cx="11772900" cy="9207500"/>
        </p:xfrm>
        <a:graphic>
          <a:graphicData uri="http://schemas.openxmlformats.org/drawingml/2006/table">
            <a:tbl>
              <a:tblPr/>
              <a:tblGrid>
                <a:gridCol w="11771443"/>
              </a:tblGrid>
              <a:tr h="14154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46645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기대효과</a:t>
                      </a:r>
                      <a:endParaRPr lang="en-US" sz="1100"/>
                    </a:p>
                  </a:txBody>
                  <a:tcPr anchor="ctr" marL="25400" marT="100329" marR="25400" marB="100329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낙상·실종 등 위험 상황 조기 감지로 응급 대응 시간 단축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보호자·복지사 실시간 정보 공유로 돌봄 공백 최소화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챗봇·음성 지원으로 디지털 취약 계층 접근성 향상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돌봄 대상자 맞춤 일자리 추천으로 사회 참여 기회 확대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</a:tbl>
          </a:graphicData>
        </a:graphic>
      </p:graphicFrame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14400" y="4749800"/>
            <a:ext cx="94742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 rot="0">
            <a:off x="0" y="0"/>
            <a:ext cx="243840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794000"/>
            <a:ext cx="21793200" cy="50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95400" y="1016000"/>
            <a:ext cx="5918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</a:rPr>
              <a:t>Chapter 6.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2700" y="1511300"/>
            <a:ext cx="39497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 spc="-20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향후 개선 방향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64700" y="2032000"/>
            <a:ext cx="80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6" b="false" i="false" u="none" strike="noStrike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</a:rPr>
              <a:t>woori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82100" y="1968500"/>
            <a:ext cx="482600" cy="482600"/>
          </a:xfrm>
          <a:prstGeom prst="rect">
            <a:avLst/>
          </a:prstGeom>
        </p:spPr>
      </p:pic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1785600" y="3619500"/>
          <a:ext cx="11303000" cy="9207500"/>
        </p:xfrm>
        <a:graphic>
          <a:graphicData uri="http://schemas.openxmlformats.org/drawingml/2006/table">
            <a:tbl>
              <a:tblPr/>
              <a:tblGrid>
                <a:gridCol w="11304668"/>
              </a:tblGrid>
              <a:tr h="141545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46645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향후 개선 방향</a:t>
                      </a:r>
                      <a:endParaRPr lang="en-US" sz="1100"/>
                    </a:p>
                  </a:txBody>
                  <a:tcPr anchor="ctr" marL="25400" marT="100329" marR="25400" marB="100329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낙상 감지 모델 정확도 향상을 위한 실데이터 추가 학습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복지사 피드백 기반 일자리 매칭 ML 모델 고도화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치매·인지 저하 돌봄 대상자를 위한 UI/UX 개선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  <a:tr h="194911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733" b="false" i="false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지자체·병원 등 외부 기관 연계 확대</a:t>
                      </a:r>
                      <a:endParaRPr lang="en-US" sz="1100"/>
                    </a:p>
                  </a:txBody>
                  <a:tcPr anchor="ctr" marL="25400" marT="95332" marR="25400" marB="95332">
                    <a:lnL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8EA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D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7E74"/>
                    </a:solidFill>
                  </a:tcPr>
                </a:tc>
              </a:tr>
            </a:tbl>
          </a:graphicData>
        </a:graphic>
      </p:graphicFrame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4635500"/>
            <a:ext cx="10185400" cy="7175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7100" y="5105400"/>
            <a:ext cx="14935200" cy="3200400"/>
          </a:xfrm>
          <a:prstGeom prst="rect">
            <a:avLst/>
          </a:prstGeom>
        </p:spPr>
        <p:txBody>
          <a:bodyPr anchor="t" rtlCol="false" lIns="0" tIns="59266" rIns="0" bIns="0"/>
          <a:lstStyle/>
          <a:p>
            <a:pPr algn="ctr" lvl="0">
              <a:lnSpc>
                <a:spcPct val="107899"/>
              </a:lnSpc>
            </a:pPr>
            <a:r>
              <a:rPr lang="en-US" sz="9333" b="false" i="false" u="none" strike="noStrike" spc="-500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발표를 들어주셔서</a:t>
            </a:r>
          </a:p>
          <a:p>
            <a:pPr algn="ctr" lvl="0">
              <a:lnSpc>
                <a:spcPct val="107899"/>
              </a:lnSpc>
            </a:pPr>
            <a:r>
              <a:rPr lang="en-US" sz="9333" b="false" i="false" u="none" strike="noStrike" spc="-500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감사합니다.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70000" y="11938000"/>
          <a:ext cx="21844000" cy="1143000"/>
        </p:xfrm>
        <a:graphic>
          <a:graphicData uri="http://schemas.openxmlformats.org/drawingml/2006/table">
            <a:tbl>
              <a:tblPr/>
              <a:tblGrid>
                <a:gridCol w="7279268"/>
                <a:gridCol w="7279268"/>
                <a:gridCol w="7279268"/>
              </a:tblGrid>
              <a:tr h="1148808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7899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팀 Nuri</a:t>
                      </a:r>
                      <a:endParaRPr lang="en-US" sz="1100"/>
                    </a:p>
                  </a:txBody>
                  <a:tcPr anchor="ctr" marL="25400" marT="40639" marR="25400" marB="40639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팀장  원 희</a:t>
                      </a:r>
                      <a:endParaRPr lang="en-US" sz="1100"/>
                    </a:p>
                  </a:txBody>
                  <a:tcPr anchor="ctr" marL="25400" marT="40639" marR="25400" marB="40639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07899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팀원  박윤아 이예린 장건희</a:t>
                      </a:r>
                      <a:endParaRPr lang="en-US" sz="1100"/>
                    </a:p>
                  </a:txBody>
                  <a:tcPr anchor="ctr" marL="25400" marT="40639" marR="25400" marB="40639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